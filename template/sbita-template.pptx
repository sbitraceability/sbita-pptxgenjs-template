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87121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備考タイトル「</a:t>
            </a:r>
            <a:pPr indent="0" marL="0">
              <a:buNone/>
            </a:pPr>
            <a:r>
              <a:rPr lang="en-US" sz="1400" b="1" dirty="0">
                <a:solidFill>
                  <a:srgbClr val="EA4545"/>
                </a:solidFill>
                <a:uFill>
                  <a:solidFill>
                    <a:srgbClr val="CBC269"/>
                  </a:solidFill>
                </a:u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赤字下線」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21792" y="318211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タイトル  </a:t>
            </a:r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454545"/>
                </a:solidFill>
                <a:uFill>
                  <a:solidFill>
                    <a:srgbClr val="CBC269"/>
                  </a:solidFill>
                </a:u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下線付きタイトル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Vision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大見出し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備考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ヘッダー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072865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文字サイズ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2カラムレイアウト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522716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左側のコンテンツ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詳細な説明をここに記載します。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33008" y="914400"/>
            <a:ext cx="522716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右側のコンテンツ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対比する情報を記載します。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3カラムレイアウト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14400"/>
            <a:ext cx="3393338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3027578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カラム1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の内容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99178" y="914400"/>
            <a:ext cx="3393338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82058" y="1097280"/>
            <a:ext cx="3027578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カラム2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の内容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66837" y="914400"/>
            <a:ext cx="3393338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49717" y="1097280"/>
            <a:ext cx="3027578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カラム3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の内容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主要指標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3393338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C269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33933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45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99.9%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稼働率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99178" y="1371600"/>
            <a:ext cx="3393338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C269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99178" y="1828800"/>
            <a:ext cx="33933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45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399178" y="301752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コスト削減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6837" y="1371600"/>
            <a:ext cx="3393338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C269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6837" y="1828800"/>
            <a:ext cx="33933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45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2x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066837" y="301752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処理速度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導入プロセス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72602" y="2560320"/>
            <a:ext cx="8046491" cy="0"/>
          </a:xfrm>
          <a:prstGeom prst="line">
            <a:avLst/>
          </a:prstGeom>
          <a:noFill/>
          <a:ln w="25400">
            <a:solidFill>
              <a:srgbClr val="CBC2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6842" y="2194560"/>
            <a:ext cx="731520" cy="73152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6" name="Text 4"/>
          <p:cNvSpPr/>
          <p:nvPr/>
        </p:nvSpPr>
        <p:spPr>
          <a:xfrm>
            <a:off x="1706842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Phase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499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要件定義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006" y="2194560"/>
            <a:ext cx="731520" cy="73152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10" name="Text 8"/>
          <p:cNvSpPr/>
          <p:nvPr/>
        </p:nvSpPr>
        <p:spPr>
          <a:xfrm>
            <a:off x="4389006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05124" y="310896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Phase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5124" y="3566160"/>
            <a:ext cx="2499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設計・開発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71169" y="2194560"/>
            <a:ext cx="731520" cy="73152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14" name="Text 12"/>
          <p:cNvSpPr/>
          <p:nvPr/>
        </p:nvSpPr>
        <p:spPr>
          <a:xfrm>
            <a:off x="7071169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87288" y="310896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Phase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7288" y="3566160"/>
            <a:ext cx="2499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テスト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53333" y="2194560"/>
            <a:ext cx="731520" cy="73152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18" name="Text 16"/>
          <p:cNvSpPr/>
          <p:nvPr/>
        </p:nvSpPr>
        <p:spPr>
          <a:xfrm>
            <a:off x="9753333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69451" y="310896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Phase 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451" y="3566160"/>
            <a:ext cx="2499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リリース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Before / After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14400"/>
            <a:ext cx="5227168" cy="4114800"/>
          </a:xfrm>
          <a:prstGeom prst="rect">
            <a:avLst/>
          </a:prstGeom>
          <a:solidFill>
            <a:srgbClr val="F5F5F5"/>
          </a:solidFill>
          <a:ln w="25400">
            <a:solidFill>
              <a:srgbClr val="EA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522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45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Before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486140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従来の方法: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手動作業が多い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時間がかかる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ミスが発生しやすい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3008" y="914400"/>
            <a:ext cx="5227168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33008" y="1005840"/>
            <a:ext cx="522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AD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After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15888" y="1554480"/>
            <a:ext cx="486140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新しい方法: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自動化された処理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大幅な時間短縮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高い精度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0"/>
            <a:ext cx="981425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イノベーションとは、変化を機会として利用することである。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724248" y="4389120"/>
            <a:ext cx="2743200" cy="0"/>
          </a:xfrm>
          <a:prstGeom prst="line">
            <a:avLst/>
          </a:prstGeom>
          <a:noFill/>
          <a:ln w="25400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5720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— ピーター・ドラッカー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Agenda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100885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はじめに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100885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課題の整理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560320"/>
            <a:ext cx="100885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解決策の提案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100885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導入効果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69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100885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まとめ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比較表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10728655" cy="914400"/>
        </p:xfrm>
        <a:graphic>
          <a:graphicData uri="http://schemas.openxmlformats.org/drawingml/2006/table">
            <a:tbl>
              <a:tblPr/>
              <a:tblGrid>
                <a:gridCol w="2682164"/>
                <a:gridCol w="2682164"/>
                <a:gridCol w="2682164"/>
                <a:gridCol w="268216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機能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プランA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プランB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プランC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ストレージ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10GB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50GB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無制限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ユーザー数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5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20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無制限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サポート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メール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チャット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24/7電話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価格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¥1,000/月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¥3,000/月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4545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¥10,000/月</a:t>
                      </a:r>
                      <a:endParaRPr lang="en-US" sz="105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システム構成図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1188720"/>
            <a:ext cx="6702552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743200" y="2560320"/>
            <a:ext cx="670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画像をここに配置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3035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図1: 全体アーキテクチャ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機能概要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522716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この機能により、以下のことが実現できます：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作業効率の向上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コストの削減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品質の改善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33008" y="914400"/>
            <a:ext cx="5227168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33008" y="2743200"/>
            <a:ext cx="522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図・画像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サービス機能一覧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8149" y="1005840"/>
            <a:ext cx="640080" cy="64008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セキュリティ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3933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高度な保護機能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775808" y="1005840"/>
            <a:ext cx="640080" cy="64008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8" name="Text 6"/>
          <p:cNvSpPr/>
          <p:nvPr/>
        </p:nvSpPr>
        <p:spPr>
          <a:xfrm>
            <a:off x="4399178" y="173736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スピード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高速な処理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443466" y="1005840"/>
            <a:ext cx="640080" cy="64008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11" name="Text 9"/>
          <p:cNvSpPr/>
          <p:nvPr/>
        </p:nvSpPr>
        <p:spPr>
          <a:xfrm>
            <a:off x="8066837" y="173736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スケーラビリティ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66837" y="2194560"/>
            <a:ext cx="33933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柔軟な拡張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08149" y="3291840"/>
            <a:ext cx="640080" cy="64008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2336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サポート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33933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24時間対応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75808" y="3291840"/>
            <a:ext cx="640080" cy="64008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17" name="Text 15"/>
          <p:cNvSpPr/>
          <p:nvPr/>
        </p:nvSpPr>
        <p:spPr>
          <a:xfrm>
            <a:off x="4399178" y="402336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統合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99178" y="4480560"/>
            <a:ext cx="33933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外部連携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43466" y="3291840"/>
            <a:ext cx="640080" cy="64008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20" name="Text 18"/>
          <p:cNvSpPr/>
          <p:nvPr/>
        </p:nvSpPr>
        <p:spPr>
          <a:xfrm>
            <a:off x="8066837" y="402336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66837" y="4480560"/>
            <a:ext cx="33933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詳細レポート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タイトル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0" y="3337560"/>
            <a:ext cx="6400800" cy="0"/>
          </a:xfrm>
          <a:prstGeom prst="line">
            <a:avLst/>
          </a:prstGeom>
          <a:noFill/>
          <a:ln w="25400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4545"/>
                </a:solidFill>
                <a:uFill>
                  <a:solidFill>
                    <a:srgbClr val="CBC269"/>
                  </a:solidFill>
                </a:u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ご清聴ありがとうございました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411480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お問い合わせ: contact@sbitraceability.co.jp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SBI Traceability Presentation Template</dc:title>
  <dc:subject>PptxGenJS Template</dc:subject>
  <dc:creator>SBI Traceability</dc:creator>
  <cp:lastModifiedBy>SBI Traceability</cp:lastModifiedBy>
  <cp:revision>1</cp:revision>
  <dcterms:created xsi:type="dcterms:W3CDTF">2026-05-18T04:13:45Z</dcterms:created>
  <dcterms:modified xsi:type="dcterms:W3CDTF">2026-05-18T04:13:45Z</dcterms:modified>
</cp:coreProperties>
</file>
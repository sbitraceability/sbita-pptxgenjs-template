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" y="2871216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F7F7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備考タイトル「</a:t>
            </a:r>
            <a:pPr indent="0" marL="0">
              <a:buNone/>
            </a:pPr>
            <a:r>
              <a:rPr lang="en-US" sz="1400" b="1" dirty="0">
                <a:solidFill>
                  <a:srgbClr val="EA4545"/>
                </a:solidFill>
                <a:uFill>
                  <a:solidFill>
                    <a:srgbClr val="CBC269"/>
                  </a:solidFill>
                </a:u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赤字下線」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21792" y="3182112"/>
            <a:ext cx="9144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800"/>
              </a:lnSpc>
              <a:buNone/>
            </a:pPr>
            <a:r>
              <a:rPr lang="en-US" sz="2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タイトル  </a:t>
            </a:r>
            <a:pPr indent="0" marL="0">
              <a:lnSpc>
                <a:spcPts val="3800"/>
              </a:lnSpc>
              <a:buNone/>
            </a:pPr>
            <a:r>
              <a:rPr lang="en-US" sz="3200" b="1" dirty="0">
                <a:solidFill>
                  <a:srgbClr val="454545"/>
                </a:solidFill>
                <a:uFill>
                  <a:solidFill>
                    <a:srgbClr val="CBC269"/>
                  </a:solidFill>
                </a:u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下線付きタイトル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Vision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2011680"/>
            <a:ext cx="1072865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大見出し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F7F7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備考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ヘッダー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097280"/>
            <a:ext cx="10728655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ts val="2400"/>
              </a:lnSpc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文字サイズ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2カラムレイアウト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914400"/>
            <a:ext cx="5227168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左側のコンテンツ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詳細な説明をここに記載します。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233008" y="914400"/>
            <a:ext cx="5227168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右側のコンテンツ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対比する情報を記載します。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3カラムレイアウト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914400"/>
            <a:ext cx="3393338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38100" dir="27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1097280"/>
            <a:ext cx="3027578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カラム1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の内容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399178" y="914400"/>
            <a:ext cx="3393338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38100" dir="2700000">
              <a:srgbClr val="000000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582058" y="1097280"/>
            <a:ext cx="3027578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カラム2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の内容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066837" y="914400"/>
            <a:ext cx="3393338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solid"/>
          </a:ln>
          <a:effectLst>
            <a:outerShdw sx="100000" sy="100000" kx="0" ky="0" algn="bl" rotWithShape="0" blurRad="76200" dist="38100" dir="27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249717" y="1097280"/>
            <a:ext cx="3027578" cy="3749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カラム3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の内容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主要指標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371600"/>
            <a:ext cx="3393338" cy="2743200"/>
          </a:xfrm>
          <a:prstGeom prst="rect">
            <a:avLst/>
          </a:prstGeom>
          <a:solidFill>
            <a:srgbClr val="FFFFFF"/>
          </a:solidFill>
          <a:ln w="25400">
            <a:solidFill>
              <a:srgbClr val="CBC269"/>
            </a:solidFill>
            <a:prstDash val="solid"/>
          </a:ln>
          <a:effectLst>
            <a:outerShdw sx="100000" sy="100000" kx="0" ky="0" algn="bl" rotWithShape="0" blurRad="76200" dist="38100" dir="27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31520" y="1828800"/>
            <a:ext cx="3393338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454545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99.9%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731520" y="3017520"/>
            <a:ext cx="33933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稼働率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399178" y="1371600"/>
            <a:ext cx="3393338" cy="2743200"/>
          </a:xfrm>
          <a:prstGeom prst="rect">
            <a:avLst/>
          </a:prstGeom>
          <a:solidFill>
            <a:srgbClr val="FFFFFF"/>
          </a:solidFill>
          <a:ln w="25400">
            <a:solidFill>
              <a:srgbClr val="CBC269"/>
            </a:solidFill>
            <a:prstDash val="solid"/>
          </a:ln>
          <a:effectLst>
            <a:outerShdw sx="100000" sy="100000" kx="0" ky="0" algn="bl" rotWithShape="0" blurRad="76200" dist="38100" dir="27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99178" y="1828800"/>
            <a:ext cx="3393338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454545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50%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4399178" y="3017520"/>
            <a:ext cx="33933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コスト削減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066837" y="1371600"/>
            <a:ext cx="3393338" cy="2743200"/>
          </a:xfrm>
          <a:prstGeom prst="rect">
            <a:avLst/>
          </a:prstGeom>
          <a:solidFill>
            <a:srgbClr val="FFFFFF"/>
          </a:solidFill>
          <a:ln w="25400">
            <a:solidFill>
              <a:srgbClr val="CBC269"/>
            </a:solidFill>
            <a:prstDash val="solid"/>
          </a:ln>
          <a:effectLst>
            <a:outerShdw sx="100000" sy="100000" kx="0" ky="0" algn="bl" rotWithShape="0" blurRad="76200" dist="38100" dir="27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66837" y="1828800"/>
            <a:ext cx="3393338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454545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2x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8066837" y="3017520"/>
            <a:ext cx="33933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処理速度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導入プロセス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072602" y="2560320"/>
            <a:ext cx="8046491" cy="0"/>
          </a:xfrm>
          <a:prstGeom prst="line">
            <a:avLst/>
          </a:prstGeom>
          <a:noFill/>
          <a:ln w="25400">
            <a:solidFill>
              <a:srgbClr val="CBC26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06842" y="2194560"/>
            <a:ext cx="731520" cy="731520"/>
          </a:xfrm>
          <a:prstGeom prst="ellipse">
            <a:avLst/>
          </a:prstGeom>
          <a:solidFill>
            <a:srgbClr val="CBC269"/>
          </a:solidFill>
          <a:ln/>
        </p:spPr>
      </p:sp>
      <p:sp>
        <p:nvSpPr>
          <p:cNvPr id="6" name="Text 4"/>
          <p:cNvSpPr/>
          <p:nvPr/>
        </p:nvSpPr>
        <p:spPr>
          <a:xfrm>
            <a:off x="1706842" y="22860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3108960"/>
            <a:ext cx="24992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Phase 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3566160"/>
            <a:ext cx="24992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要件定義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89006" y="2194560"/>
            <a:ext cx="731520" cy="731520"/>
          </a:xfrm>
          <a:prstGeom prst="ellipse">
            <a:avLst/>
          </a:prstGeom>
          <a:solidFill>
            <a:srgbClr val="CBC269"/>
          </a:solidFill>
          <a:ln/>
        </p:spPr>
      </p:sp>
      <p:sp>
        <p:nvSpPr>
          <p:cNvPr id="10" name="Text 8"/>
          <p:cNvSpPr/>
          <p:nvPr/>
        </p:nvSpPr>
        <p:spPr>
          <a:xfrm>
            <a:off x="4389006" y="22860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3505124" y="3108960"/>
            <a:ext cx="24992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Phase 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505124" y="3566160"/>
            <a:ext cx="24992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設計・開発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071169" y="2194560"/>
            <a:ext cx="731520" cy="731520"/>
          </a:xfrm>
          <a:prstGeom prst="ellipse">
            <a:avLst/>
          </a:prstGeom>
          <a:solidFill>
            <a:srgbClr val="CBC269"/>
          </a:solidFill>
          <a:ln/>
        </p:spPr>
      </p:sp>
      <p:sp>
        <p:nvSpPr>
          <p:cNvPr id="14" name="Text 12"/>
          <p:cNvSpPr/>
          <p:nvPr/>
        </p:nvSpPr>
        <p:spPr>
          <a:xfrm>
            <a:off x="7071169" y="22860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187288" y="3108960"/>
            <a:ext cx="24992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Phase 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187288" y="3566160"/>
            <a:ext cx="24992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テスト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753333" y="2194560"/>
            <a:ext cx="731520" cy="731520"/>
          </a:xfrm>
          <a:prstGeom prst="ellipse">
            <a:avLst/>
          </a:prstGeom>
          <a:solidFill>
            <a:srgbClr val="CBC269"/>
          </a:solidFill>
          <a:ln/>
        </p:spPr>
      </p:sp>
      <p:sp>
        <p:nvSpPr>
          <p:cNvPr id="18" name="Text 16"/>
          <p:cNvSpPr/>
          <p:nvPr/>
        </p:nvSpPr>
        <p:spPr>
          <a:xfrm>
            <a:off x="9753333" y="228600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869451" y="3108960"/>
            <a:ext cx="249928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Phase 4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869451" y="3566160"/>
            <a:ext cx="24992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リリース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Before / After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914400"/>
            <a:ext cx="5227168" cy="4114800"/>
          </a:xfrm>
          <a:prstGeom prst="rect">
            <a:avLst/>
          </a:prstGeom>
          <a:solidFill>
            <a:srgbClr val="F5F5F5"/>
          </a:solidFill>
          <a:ln w="25400">
            <a:solidFill>
              <a:srgbClr val="EA454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05840"/>
            <a:ext cx="522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A4545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Before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14400" y="1554480"/>
            <a:ext cx="4861408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従来の方法: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- 手動作業が多い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- 時間がかかる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- ミスが発生しやすい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233008" y="914400"/>
            <a:ext cx="5227168" cy="4114800"/>
          </a:xfrm>
          <a:prstGeom prst="rect">
            <a:avLst/>
          </a:prstGeom>
          <a:solidFill>
            <a:srgbClr val="FFFFFF"/>
          </a:solidFill>
          <a:ln w="25400">
            <a:solidFill>
              <a:srgbClr val="70AD4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3008" y="1005840"/>
            <a:ext cx="522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0AD47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After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15888" y="1554480"/>
            <a:ext cx="4861408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新しい方法: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- 自動化された処理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- 大幅な時間短縮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- 高い精度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88720" y="2286000"/>
            <a:ext cx="9814255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i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イノベーションとは、変化を機会として利用することである。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724248" y="4389120"/>
            <a:ext cx="2743200" cy="0"/>
          </a:xfrm>
          <a:prstGeom prst="line">
            <a:avLst/>
          </a:prstGeom>
          <a:noFill/>
          <a:ln w="25400">
            <a:solidFill>
              <a:srgbClr val="CBC2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4572000"/>
            <a:ext cx="1072865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— ピーター・ドラッカー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Agenda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097280"/>
            <a:ext cx="457200" cy="457200"/>
          </a:xfrm>
          <a:prstGeom prst="ellipse">
            <a:avLst/>
          </a:prstGeom>
          <a:solidFill>
            <a:srgbClr val="CBC26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14300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71600" y="1097280"/>
            <a:ext cx="100885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はじめに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1828800"/>
            <a:ext cx="457200" cy="45720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87452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71600" y="1828800"/>
            <a:ext cx="100885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課題の整理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731520" y="2560320"/>
            <a:ext cx="457200" cy="45720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260604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2560320"/>
            <a:ext cx="100885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解決策の提案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731520" y="3291840"/>
            <a:ext cx="457200" cy="45720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33756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371600" y="3291840"/>
            <a:ext cx="100885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導入効果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731520" y="4023360"/>
            <a:ext cx="457200" cy="457200"/>
          </a:xfrm>
          <a:prstGeom prst="ellipse">
            <a:avLst/>
          </a:prstGeom>
          <a:solidFill>
            <a:srgbClr val="7F7F7F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4069080"/>
            <a:ext cx="457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371600" y="4023360"/>
            <a:ext cx="1008857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まとめ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比較表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914400"/>
          <a:ext cx="10728655" cy="914400"/>
        </p:xfrm>
        <a:graphic>
          <a:graphicData uri="http://schemas.openxmlformats.org/drawingml/2006/table">
            <a:tbl>
              <a:tblPr/>
              <a:tblGrid>
                <a:gridCol w="2682164"/>
                <a:gridCol w="2682164"/>
                <a:gridCol w="2682164"/>
                <a:gridCol w="2682164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54545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機能</a:t>
                      </a:r>
                      <a:endParaRPr lang="en-US" sz="105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54545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プランA</a:t>
                      </a:r>
                      <a:endParaRPr lang="en-US" sz="105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54545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プランB</a:t>
                      </a:r>
                      <a:endParaRPr lang="en-US" sz="105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54545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プランC</a:t>
                      </a:r>
                      <a:endParaRPr lang="en-US" sz="105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54545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ストレージ</a:t>
                      </a:r>
                      <a:endParaRPr lang="en-US" sz="105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54545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10GB</a:t>
                      </a:r>
                      <a:endParaRPr lang="en-US" sz="105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54545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50GB</a:t>
                      </a:r>
                      <a:endParaRPr lang="en-US" sz="105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54545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無制限</a:t>
                      </a:r>
                      <a:endParaRPr lang="en-US" sz="105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54545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ユーザー数</a:t>
                      </a:r>
                      <a:endParaRPr lang="en-US" sz="105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54545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5</a:t>
                      </a:r>
                      <a:endParaRPr lang="en-US" sz="105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54545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20</a:t>
                      </a:r>
                      <a:endParaRPr lang="en-US" sz="105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54545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無制限</a:t>
                      </a:r>
                      <a:endParaRPr lang="en-US" sz="105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54545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サポート</a:t>
                      </a:r>
                      <a:endParaRPr lang="en-US" sz="105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54545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メール</a:t>
                      </a:r>
                      <a:endParaRPr lang="en-US" sz="105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54545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チャット</a:t>
                      </a:r>
                      <a:endParaRPr lang="en-US" sz="105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54545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24/7電話</a:t>
                      </a:r>
                      <a:endParaRPr lang="en-US" sz="105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54545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価格</a:t>
                      </a:r>
                      <a:endParaRPr lang="en-US" sz="105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54545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¥1,000/月</a:t>
                      </a:r>
                      <a:endParaRPr lang="en-US" sz="105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54545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¥3,000/月</a:t>
                      </a:r>
                      <a:endParaRPr lang="en-US" sz="105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454545"/>
                          </a:solidFill>
                          <a:latin typeface="メイリオ" pitchFamily="34" charset="0"/>
                          <a:ea typeface="メイリオ" pitchFamily="34" charset="-122"/>
                          <a:cs typeface="メイリオ" pitchFamily="34" charset="-120"/>
                        </a:rPr>
                        <a:t>¥10,000/月</a:t>
                      </a:r>
                      <a:endParaRPr lang="en-US" sz="1050" dirty="0">
                        <a:latin typeface="メイリオ" charset="0"/>
                        <a:ea typeface="メイリオ" charset="0"/>
                        <a:cs typeface="メイリオ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6" name="Text 3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システム構成図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743200" y="1188720"/>
            <a:ext cx="6702552" cy="36576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2743200" y="2560320"/>
            <a:ext cx="6702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画像をここに配置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30352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図1: 全体アーキテクチャ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機能概要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914400"/>
            <a:ext cx="5227168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この機能により、以下のことが実現できます：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• 作業効率の向上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• コストの削減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• 品質の改善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233008" y="914400"/>
            <a:ext cx="5227168" cy="4114800"/>
          </a:xfrm>
          <a:prstGeom prst="rect">
            <a:avLst/>
          </a:prstGeom>
          <a:solidFill>
            <a:srgbClr val="F5F5F5"/>
          </a:solidFill>
          <a:ln w="12700">
            <a:solidFill>
              <a:srgbClr val="E0E0E0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6233008" y="2743200"/>
            <a:ext cx="522716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7F7F7F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図・画像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91440"/>
            <a:ext cx="121916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サービス機能一覧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2849728" y="475488"/>
            <a:ext cx="6492240" cy="0"/>
          </a:xfrm>
          <a:prstGeom prst="line">
            <a:avLst/>
          </a:prstGeom>
          <a:noFill/>
          <a:ln w="15875">
            <a:solidFill>
              <a:srgbClr val="CBC26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108149" y="1005840"/>
            <a:ext cx="640080" cy="640080"/>
          </a:xfrm>
          <a:prstGeom prst="ellipse">
            <a:avLst/>
          </a:prstGeom>
          <a:solidFill>
            <a:srgbClr val="CBC26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737360"/>
            <a:ext cx="33933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セキュリティ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339333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高度な保護機能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775808" y="1005840"/>
            <a:ext cx="640080" cy="640080"/>
          </a:xfrm>
          <a:prstGeom prst="ellipse">
            <a:avLst/>
          </a:prstGeom>
          <a:solidFill>
            <a:srgbClr val="CBC269"/>
          </a:solidFill>
          <a:ln/>
        </p:spPr>
      </p:sp>
      <p:sp>
        <p:nvSpPr>
          <p:cNvPr id="8" name="Text 6"/>
          <p:cNvSpPr/>
          <p:nvPr/>
        </p:nvSpPr>
        <p:spPr>
          <a:xfrm>
            <a:off x="4399178" y="1737360"/>
            <a:ext cx="33933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スピード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399178" y="2194560"/>
            <a:ext cx="339333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高速な処理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9443466" y="1005840"/>
            <a:ext cx="640080" cy="640080"/>
          </a:xfrm>
          <a:prstGeom prst="ellipse">
            <a:avLst/>
          </a:prstGeom>
          <a:solidFill>
            <a:srgbClr val="CBC269"/>
          </a:solidFill>
          <a:ln/>
        </p:spPr>
      </p:sp>
      <p:sp>
        <p:nvSpPr>
          <p:cNvPr id="11" name="Text 9"/>
          <p:cNvSpPr/>
          <p:nvPr/>
        </p:nvSpPr>
        <p:spPr>
          <a:xfrm>
            <a:off x="8066837" y="1737360"/>
            <a:ext cx="33933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スケーラビリティ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066837" y="2194560"/>
            <a:ext cx="339333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柔軟な拡張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2108149" y="3291840"/>
            <a:ext cx="640080" cy="640080"/>
          </a:xfrm>
          <a:prstGeom prst="ellipse">
            <a:avLst/>
          </a:prstGeom>
          <a:solidFill>
            <a:srgbClr val="CBC269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4023360"/>
            <a:ext cx="33933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サポート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31520" y="4480560"/>
            <a:ext cx="339333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24時間対応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775808" y="3291840"/>
            <a:ext cx="640080" cy="640080"/>
          </a:xfrm>
          <a:prstGeom prst="ellipse">
            <a:avLst/>
          </a:prstGeom>
          <a:solidFill>
            <a:srgbClr val="CBC269"/>
          </a:solidFill>
          <a:ln/>
        </p:spPr>
      </p:sp>
      <p:sp>
        <p:nvSpPr>
          <p:cNvPr id="17" name="Text 15"/>
          <p:cNvSpPr/>
          <p:nvPr/>
        </p:nvSpPr>
        <p:spPr>
          <a:xfrm>
            <a:off x="4399178" y="4023360"/>
            <a:ext cx="33933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統合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399178" y="4480560"/>
            <a:ext cx="339333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外部連携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443466" y="3291840"/>
            <a:ext cx="640080" cy="640080"/>
          </a:xfrm>
          <a:prstGeom prst="ellipse">
            <a:avLst/>
          </a:prstGeom>
          <a:solidFill>
            <a:srgbClr val="CBC269"/>
          </a:solidFill>
          <a:ln/>
        </p:spPr>
      </p:sp>
      <p:sp>
        <p:nvSpPr>
          <p:cNvPr id="20" name="Text 18"/>
          <p:cNvSpPr/>
          <p:nvPr/>
        </p:nvSpPr>
        <p:spPr>
          <a:xfrm>
            <a:off x="8066837" y="4023360"/>
            <a:ext cx="339333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分析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066837" y="4480560"/>
            <a:ext cx="339333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詳細レポート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0" y="2743200"/>
            <a:ext cx="3657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454545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タイトル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5029200" y="3337560"/>
            <a:ext cx="6400800" cy="0"/>
          </a:xfrm>
          <a:prstGeom prst="line">
            <a:avLst/>
          </a:prstGeom>
          <a:noFill/>
          <a:ln w="25400">
            <a:solidFill>
              <a:srgbClr val="45454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1072865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454545"/>
                </a:solidFill>
                <a:uFill>
                  <a:solidFill>
                    <a:srgbClr val="CBC269"/>
                  </a:solidFill>
                </a:u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ご清聴ありがとうございました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31520" y="4114800"/>
            <a:ext cx="1072865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35353"/>
                </a:solidFill>
                <a:latin typeface="メイリオ" pitchFamily="34" charset="0"/>
                <a:ea typeface="メイリオ" pitchFamily="34" charset="-122"/>
                <a:cs typeface="メイリオ" pitchFamily="34" charset="-120"/>
              </a:rPr>
              <a:t>お問い合わせ: contact@sbitraceability.co.jp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55448" y="6537960"/>
            <a:ext cx="10972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D6A5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Strictly Confidential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4389120" y="65379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3535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Copyright © 2026 SBI Traceability co., Ltd. All Rights Reserved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SBI Traceability Presentation Template</dc:title>
  <dc:subject>PptxGenJS Template</dc:subject>
  <dc:creator>SBI Traceability</dc:creator>
  <cp:lastModifiedBy>SBI Traceability</cp:lastModifiedBy>
  <cp:revision>1</cp:revision>
  <dcterms:created xsi:type="dcterms:W3CDTF">2026-03-28T10:09:06Z</dcterms:created>
  <dcterms:modified xsi:type="dcterms:W3CDTF">2026-03-28T10:09:06Z</dcterms:modified>
</cp:coreProperties>
</file>